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nva Sans" panose="020B0604020202020204" charset="0"/>
      <p:regular r:id="rId24"/>
    </p:embeddedFont>
    <p:embeddedFont>
      <p:font typeface="Canva Sans Bold" panose="020B0604020202020204" charset="0"/>
      <p:regular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ontserrat Bold" panose="00000800000000000000" charset="0"/>
      <p:regular r:id="rId30"/>
    </p:embeddedFont>
    <p:embeddedFont>
      <p:font typeface="Montserrat Heavy" panose="020B0604020202020204" charset="0"/>
      <p:regular r:id="rId31"/>
    </p:embeddedFont>
    <p:embeddedFont>
      <p:font typeface="Montserrat Medium" panose="00000600000000000000" pitchFamily="2" charset="0"/>
      <p:regular r:id="rId32"/>
      <p:italic r:id="rId33"/>
    </p:embeddedFont>
    <p:embeddedFont>
      <p:font typeface="Montserrat Ultra-Bold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8.svg"/><Relationship Id="rId7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5.svg"/><Relationship Id="rId10" Type="http://schemas.openxmlformats.org/officeDocument/2006/relationships/image" Target="../media/image28.png"/><Relationship Id="rId4" Type="http://schemas.openxmlformats.org/officeDocument/2006/relationships/image" Target="../media/image4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276" y="103929"/>
            <a:ext cx="18027447" cy="10177865"/>
          </a:xfrm>
          <a:custGeom>
            <a:avLst/>
            <a:gdLst/>
            <a:ahLst/>
            <a:cxnLst/>
            <a:rect l="l" t="t" r="r" b="b"/>
            <a:pathLst>
              <a:path w="18027447" h="10177865">
                <a:moveTo>
                  <a:pt x="0" y="0"/>
                </a:moveTo>
                <a:lnTo>
                  <a:pt x="18027448" y="0"/>
                </a:lnTo>
                <a:lnTo>
                  <a:pt x="18027448" y="10177864"/>
                </a:lnTo>
                <a:lnTo>
                  <a:pt x="0" y="10177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056" b="-2505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3632494" y="-246595"/>
            <a:ext cx="208874" cy="1078019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AutoShape 4"/>
          <p:cNvSpPr/>
          <p:nvPr/>
        </p:nvSpPr>
        <p:spPr>
          <a:xfrm>
            <a:off x="14446632" y="-246595"/>
            <a:ext cx="208874" cy="1078019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AutoShape 5"/>
          <p:cNvSpPr/>
          <p:nvPr/>
        </p:nvSpPr>
        <p:spPr>
          <a:xfrm>
            <a:off x="3841368" y="0"/>
            <a:ext cx="10605264" cy="10287000"/>
          </a:xfrm>
          <a:prstGeom prst="rect">
            <a:avLst/>
          </a:prstGeom>
          <a:solidFill>
            <a:srgbClr val="A1343C">
              <a:alpha val="69804"/>
            </a:srgbClr>
          </a:solidFill>
        </p:spPr>
      </p:sp>
      <p:sp>
        <p:nvSpPr>
          <p:cNvPr id="6" name="TextBox 6"/>
          <p:cNvSpPr txBox="1"/>
          <p:nvPr/>
        </p:nvSpPr>
        <p:spPr>
          <a:xfrm>
            <a:off x="3432189" y="3511390"/>
            <a:ext cx="11423621" cy="391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91"/>
              </a:lnSpc>
            </a:pPr>
            <a:r>
              <a:rPr lang="en-US" sz="10851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TELECOM CHURN ANALYSIS</a:t>
            </a:r>
          </a:p>
        </p:txBody>
      </p:sp>
      <p:sp>
        <p:nvSpPr>
          <p:cNvPr id="7" name="AutoShape 7"/>
          <p:cNvSpPr/>
          <p:nvPr/>
        </p:nvSpPr>
        <p:spPr>
          <a:xfrm>
            <a:off x="5897880" y="6100733"/>
            <a:ext cx="6492240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6718395" y="572199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3" y="0"/>
                </a:lnTo>
                <a:lnTo>
                  <a:pt x="995643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100324" y="827972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927124" y="-210752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848283" y="2813038"/>
            <a:ext cx="8591434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Presentation 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48283" y="7887292"/>
            <a:ext cx="859143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Turning Churn Data into Actionable Business Insights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71382" y="9708691"/>
            <a:ext cx="6835060" cy="30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61"/>
              </a:lnSpc>
              <a:spcBef>
                <a:spcPct val="0"/>
              </a:spcBef>
            </a:pPr>
            <a:r>
              <a:rPr lang="en-US" sz="18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26th April, 2025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61458" y="0"/>
            <a:ext cx="6515809" cy="10287000"/>
          </a:xfrm>
          <a:prstGeom prst="rect">
            <a:avLst/>
          </a:prstGeom>
          <a:solidFill>
            <a:srgbClr val="DE6A73"/>
          </a:solidFill>
        </p:spPr>
      </p:sp>
      <p:sp>
        <p:nvSpPr>
          <p:cNvPr id="3" name="AutoShape 3"/>
          <p:cNvSpPr/>
          <p:nvPr/>
        </p:nvSpPr>
        <p:spPr>
          <a:xfrm>
            <a:off x="9259716" y="1012098"/>
            <a:ext cx="7803484" cy="82296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4" name="Group 4"/>
          <p:cNvGrpSpPr/>
          <p:nvPr/>
        </p:nvGrpSpPr>
        <p:grpSpPr>
          <a:xfrm>
            <a:off x="9488236" y="1283407"/>
            <a:ext cx="7346445" cy="7720185"/>
            <a:chOff x="0" y="0"/>
            <a:chExt cx="9795260" cy="1029358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 l="25080" r="25080"/>
            <a:stretch>
              <a:fillRect/>
            </a:stretch>
          </p:blipFill>
          <p:spPr>
            <a:xfrm>
              <a:off x="0" y="0"/>
              <a:ext cx="9795260" cy="10293580"/>
            </a:xfrm>
            <a:prstGeom prst="rect">
              <a:avLst/>
            </a:prstGeom>
          </p:spPr>
        </p:pic>
      </p:grpSp>
      <p:sp>
        <p:nvSpPr>
          <p:cNvPr id="6" name="Freeform 6"/>
          <p:cNvSpPr/>
          <p:nvPr/>
        </p:nvSpPr>
        <p:spPr>
          <a:xfrm>
            <a:off x="16718395" y="572199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3" y="0"/>
                </a:lnTo>
                <a:lnTo>
                  <a:pt x="995643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100324" y="827972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68979" y="1530424"/>
            <a:ext cx="8919257" cy="6761591"/>
            <a:chOff x="0" y="0"/>
            <a:chExt cx="11892343" cy="901545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42875"/>
              <a:ext cx="11892343" cy="2300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451"/>
                </a:lnSpc>
                <a:spcBef>
                  <a:spcPct val="0"/>
                </a:spcBef>
              </a:pPr>
              <a:r>
                <a:rPr lang="en-US" sz="6650" b="1" u="none" strike="noStrike" dirty="0">
                  <a:solidFill>
                    <a:srgbClr val="000000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PROBLEM STATEMENT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959667"/>
              <a:ext cx="10406948" cy="6055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334"/>
                </a:lnSpc>
              </a:pPr>
              <a:r>
                <a:rPr lang="en-US" sz="30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Customer churn remains a critical issue for Telecom companies, affecting revenue and customer lifetime value. </a:t>
              </a:r>
            </a:p>
            <a:p>
              <a:pPr algn="just">
                <a:lnSpc>
                  <a:spcPts val="4334"/>
                </a:lnSpc>
              </a:pPr>
              <a:endParaRPr lang="en-US" sz="30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just">
                <a:lnSpc>
                  <a:spcPts val="4334"/>
                </a:lnSpc>
              </a:pPr>
              <a:r>
                <a:rPr lang="en-US" sz="309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This analysis explores key drivers of churn to uncover actionable insights and guide retention strategies.</a:t>
              </a:r>
            </a:p>
            <a:p>
              <a:pPr algn="just">
                <a:lnSpc>
                  <a:spcPts val="5911"/>
                </a:lnSpc>
              </a:pPr>
              <a:endParaRPr lang="en-US" sz="30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49320" y="310414"/>
            <a:ext cx="8854347" cy="9596693"/>
          </a:xfrm>
          <a:prstGeom prst="rect">
            <a:avLst/>
          </a:prstGeom>
          <a:solidFill>
            <a:srgbClr val="A1343C"/>
          </a:solidFill>
        </p:spPr>
      </p:sp>
      <p:grpSp>
        <p:nvGrpSpPr>
          <p:cNvPr id="4" name="Group 4"/>
          <p:cNvGrpSpPr/>
          <p:nvPr/>
        </p:nvGrpSpPr>
        <p:grpSpPr>
          <a:xfrm>
            <a:off x="10074775" y="1021997"/>
            <a:ext cx="7184525" cy="8198436"/>
            <a:chOff x="0" y="0"/>
            <a:chExt cx="9579367" cy="10931248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20971" r="20971"/>
            <a:stretch>
              <a:fillRect/>
            </a:stretch>
          </p:blipFill>
          <p:spPr>
            <a:xfrm>
              <a:off x="0" y="0"/>
              <a:ext cx="9579367" cy="10931248"/>
            </a:xfrm>
            <a:prstGeom prst="rect">
              <a:avLst/>
            </a:prstGeom>
          </p:spPr>
        </p:pic>
      </p:grpSp>
      <p:sp>
        <p:nvSpPr>
          <p:cNvPr id="6" name="TextBox 6"/>
          <p:cNvSpPr txBox="1"/>
          <p:nvPr/>
        </p:nvSpPr>
        <p:spPr>
          <a:xfrm>
            <a:off x="1231078" y="2410690"/>
            <a:ext cx="8217008" cy="709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320" lvl="1" indent="-292160" algn="just">
              <a:lnSpc>
                <a:spcPts val="3789"/>
              </a:lnSpc>
              <a:buFont typeface="Arial"/>
              <a:buChar char="•"/>
            </a:pPr>
            <a:r>
              <a:rPr lang="en-US" sz="2706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Analyze the overall churn rate and explore reasons for customer churn.</a:t>
            </a:r>
          </a:p>
          <a:p>
            <a:pPr algn="just">
              <a:lnSpc>
                <a:spcPts val="3789"/>
              </a:lnSpc>
            </a:pPr>
            <a:endParaRPr lang="en-US" sz="2706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84320" lvl="1" indent="-292160" algn="just">
              <a:lnSpc>
                <a:spcPts val="3789"/>
              </a:lnSpc>
              <a:buFont typeface="Arial"/>
              <a:buChar char="•"/>
            </a:pPr>
            <a:r>
              <a:rPr lang="en-US" sz="2706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Evaluate the impact of factors such as group contracts, international plans, etc on churn behavior.</a:t>
            </a:r>
          </a:p>
          <a:p>
            <a:pPr algn="just">
              <a:lnSpc>
                <a:spcPts val="3789"/>
              </a:lnSpc>
            </a:pPr>
            <a:endParaRPr lang="en-US" sz="2706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84320" lvl="1" indent="-292160" algn="just">
              <a:lnSpc>
                <a:spcPts val="3789"/>
              </a:lnSpc>
              <a:buFont typeface="Arial"/>
              <a:buChar char="•"/>
            </a:pPr>
            <a:r>
              <a:rPr lang="en-US" sz="2706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Identify demographic and behavioral trends influencing churn.</a:t>
            </a:r>
          </a:p>
          <a:p>
            <a:pPr algn="just">
              <a:lnSpc>
                <a:spcPts val="3789"/>
              </a:lnSpc>
            </a:pPr>
            <a:endParaRPr lang="en-US" sz="2706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84320" lvl="1" indent="-292160" algn="just">
              <a:lnSpc>
                <a:spcPts val="3789"/>
              </a:lnSpc>
              <a:buFont typeface="Arial"/>
              <a:buChar char="•"/>
            </a:pPr>
            <a:r>
              <a:rPr lang="en-US" sz="2706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Assess the impact of customer service interactions on churn.</a:t>
            </a:r>
          </a:p>
          <a:p>
            <a:pPr algn="just">
              <a:lnSpc>
                <a:spcPts val="3789"/>
              </a:lnSpc>
            </a:pPr>
            <a:endParaRPr lang="en-US" sz="2706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84320" lvl="1" indent="-292160" algn="just">
              <a:lnSpc>
                <a:spcPts val="3789"/>
              </a:lnSpc>
              <a:buFont typeface="Arial"/>
              <a:buChar char="•"/>
            </a:pPr>
            <a:r>
              <a:rPr lang="en-US" sz="2706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Provide actionable insights to support churn reduction strategies.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4621" y="696024"/>
            <a:ext cx="7259738" cy="7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44"/>
              </a:lnSpc>
              <a:spcBef>
                <a:spcPct val="0"/>
              </a:spcBef>
            </a:pPr>
            <a:r>
              <a:rPr lang="en-US" sz="5921" b="1" u="none" strike="noStrik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OBJECTIVES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2195" y="1435179"/>
            <a:ext cx="11483611" cy="7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44"/>
              </a:lnSpc>
              <a:spcBef>
                <a:spcPct val="0"/>
              </a:spcBef>
            </a:pPr>
            <a:r>
              <a:rPr lang="en-US" sz="5921" b="1" u="none" strike="noStrik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OVERVIEW</a:t>
            </a:r>
          </a:p>
        </p:txBody>
      </p:sp>
      <p:sp>
        <p:nvSpPr>
          <p:cNvPr id="3" name="AutoShape 3"/>
          <p:cNvSpPr/>
          <p:nvPr/>
        </p:nvSpPr>
        <p:spPr>
          <a:xfrm>
            <a:off x="7060657" y="5547058"/>
            <a:ext cx="4166685" cy="1191374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4" name="AutoShape 4"/>
          <p:cNvSpPr/>
          <p:nvPr/>
        </p:nvSpPr>
        <p:spPr>
          <a:xfrm>
            <a:off x="1326749" y="3166014"/>
            <a:ext cx="4166685" cy="1191374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5" name="AutoShape 5"/>
          <p:cNvSpPr/>
          <p:nvPr/>
        </p:nvSpPr>
        <p:spPr>
          <a:xfrm>
            <a:off x="12794566" y="3166014"/>
            <a:ext cx="4166685" cy="1191374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6" name="TextBox 6"/>
          <p:cNvSpPr txBox="1"/>
          <p:nvPr/>
        </p:nvSpPr>
        <p:spPr>
          <a:xfrm>
            <a:off x="7846786" y="5576007"/>
            <a:ext cx="3030730" cy="102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8"/>
              </a:lnSpc>
            </a:pPr>
            <a:r>
              <a:rPr lang="en-US" sz="604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26.86%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01593" y="3204488"/>
            <a:ext cx="2552632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4891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33775" y="3204488"/>
            <a:ext cx="2552632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6687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6749" y="4858473"/>
            <a:ext cx="4166685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Total Number of Customers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60657" y="7239517"/>
            <a:ext cx="4166685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Churn Rate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94566" y="4858473"/>
            <a:ext cx="4166685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Total Active Customers</a:t>
            </a:r>
          </a:p>
        </p:txBody>
      </p:sp>
      <p:sp>
        <p:nvSpPr>
          <p:cNvPr id="12" name="AutoShape 12"/>
          <p:cNvSpPr/>
          <p:nvPr/>
        </p:nvSpPr>
        <p:spPr>
          <a:xfrm rot="2253372">
            <a:off x="5269794" y="4932398"/>
            <a:ext cx="2050323" cy="0"/>
          </a:xfrm>
          <a:prstGeom prst="line">
            <a:avLst/>
          </a:prstGeom>
          <a:ln w="47625" cap="flat">
            <a:solidFill>
              <a:srgbClr val="A1343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rot="-2284427">
            <a:off x="10897099" y="4896512"/>
            <a:ext cx="2290293" cy="0"/>
          </a:xfrm>
          <a:prstGeom prst="line">
            <a:avLst/>
          </a:prstGeom>
          <a:ln w="47625" cap="flat">
            <a:solidFill>
              <a:srgbClr val="A1343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-2284427" flipV="1">
            <a:off x="-226754" y="4782914"/>
            <a:ext cx="1944160" cy="64579"/>
          </a:xfrm>
          <a:prstGeom prst="line">
            <a:avLst/>
          </a:prstGeom>
          <a:ln w="47625" cap="flat">
            <a:solidFill>
              <a:srgbClr val="A1343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6935325" y="4376267"/>
            <a:ext cx="1352676" cy="1170792"/>
          </a:xfrm>
          <a:prstGeom prst="line">
            <a:avLst/>
          </a:prstGeom>
          <a:ln w="47625" cap="flat">
            <a:solidFill>
              <a:srgbClr val="A1343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326749" y="8763517"/>
            <a:ext cx="1593255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Over a quarter of the c</a:t>
            </a:r>
            <a:r>
              <a:rPr lang="en-US" sz="2999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ustomer base has churned. This requires urgent attention.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568979" y="387797"/>
            <a:ext cx="9589874" cy="9341287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4" name="TextBox 4"/>
          <p:cNvSpPr txBox="1"/>
          <p:nvPr/>
        </p:nvSpPr>
        <p:spPr>
          <a:xfrm>
            <a:off x="711751" y="4595746"/>
            <a:ext cx="9447102" cy="1916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3"/>
              </a:lnSpc>
            </a:pPr>
            <a:r>
              <a:rPr lang="en-US" sz="758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ANALYSIS INSIGHTS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834915" y="-33404"/>
            <a:ext cx="3254842" cy="9258300"/>
            <a:chOff x="0" y="0"/>
            <a:chExt cx="4339789" cy="123444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60328" r="16234"/>
            <a:stretch>
              <a:fillRect/>
            </a:stretch>
          </p:blipFill>
          <p:spPr>
            <a:xfrm>
              <a:off x="0" y="0"/>
              <a:ext cx="4339789" cy="123444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4765819" y="1428750"/>
            <a:ext cx="3283417" cy="8858250"/>
            <a:chOff x="0" y="0"/>
            <a:chExt cx="4377889" cy="1181100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rcRect l="59691" r="15597"/>
            <a:stretch>
              <a:fillRect/>
            </a:stretch>
          </p:blipFill>
          <p:spPr>
            <a:xfrm>
              <a:off x="0" y="0"/>
              <a:ext cx="4377889" cy="1181100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18395" y="572199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3" y="0"/>
                </a:lnTo>
                <a:lnTo>
                  <a:pt x="995643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02195" y="1435179"/>
            <a:ext cx="11483611" cy="7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44"/>
              </a:lnSpc>
              <a:spcBef>
                <a:spcPct val="0"/>
              </a:spcBef>
            </a:pPr>
            <a:r>
              <a:rPr lang="en-US" sz="5921" b="1" u="none" strike="noStrik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KEY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19349" y="8488247"/>
            <a:ext cx="2552632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4891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75971" y="8588260"/>
            <a:ext cx="416668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Competitor Reason</a:t>
            </a:r>
          </a:p>
        </p:txBody>
      </p:sp>
      <p:sp>
        <p:nvSpPr>
          <p:cNvPr id="6" name="AutoShape 6"/>
          <p:cNvSpPr/>
          <p:nvPr/>
        </p:nvSpPr>
        <p:spPr>
          <a:xfrm>
            <a:off x="7782209" y="5825616"/>
            <a:ext cx="3019001" cy="2327380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7" name="TextBox 7"/>
          <p:cNvSpPr txBox="1"/>
          <p:nvPr/>
        </p:nvSpPr>
        <p:spPr>
          <a:xfrm>
            <a:off x="7782209" y="6219401"/>
            <a:ext cx="3030730" cy="102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8"/>
              </a:lnSpc>
            </a:pPr>
            <a:r>
              <a:rPr lang="en-US" sz="6041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297</a:t>
            </a:r>
          </a:p>
        </p:txBody>
      </p:sp>
      <p:sp>
        <p:nvSpPr>
          <p:cNvPr id="8" name="AutoShape 8"/>
          <p:cNvSpPr/>
          <p:nvPr/>
        </p:nvSpPr>
        <p:spPr>
          <a:xfrm>
            <a:off x="2770279" y="5825616"/>
            <a:ext cx="3019001" cy="2327380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9" name="AutoShape 9"/>
          <p:cNvSpPr/>
          <p:nvPr/>
        </p:nvSpPr>
        <p:spPr>
          <a:xfrm>
            <a:off x="12784819" y="5825616"/>
            <a:ext cx="3019001" cy="2327380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10" name="TextBox 10"/>
          <p:cNvSpPr txBox="1"/>
          <p:nvPr/>
        </p:nvSpPr>
        <p:spPr>
          <a:xfrm>
            <a:off x="12784819" y="6219401"/>
            <a:ext cx="3030730" cy="102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8"/>
              </a:lnSpc>
            </a:pPr>
            <a:r>
              <a:rPr lang="en-US" sz="604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58550" y="6219401"/>
            <a:ext cx="3030730" cy="102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8"/>
              </a:lnSpc>
            </a:pPr>
            <a:r>
              <a:rPr lang="en-US" sz="604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14231" y="8550161"/>
            <a:ext cx="416668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Network issues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51710" y="8550161"/>
            <a:ext cx="4166685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Service Support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70279" y="7387736"/>
            <a:ext cx="3030730" cy="546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8"/>
              </a:lnSpc>
            </a:pPr>
            <a:r>
              <a:rPr lang="en-US" sz="324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73090" y="7387736"/>
            <a:ext cx="3030730" cy="546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8"/>
              </a:lnSpc>
            </a:pPr>
            <a:r>
              <a:rPr lang="en-US" sz="324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82209" y="7387736"/>
            <a:ext cx="3030730" cy="546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8"/>
              </a:lnSpc>
            </a:pPr>
            <a:r>
              <a:rPr lang="en-US" sz="3241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2210" y="3339986"/>
            <a:ext cx="665271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Top Churn Reasons 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47395" y="4300537"/>
            <a:ext cx="14156425" cy="495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7" lvl="1" indent="-323848" algn="ctr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Most churns were due to competitor influence and dissatisfaction.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18395" y="572199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3" y="0"/>
                </a:lnTo>
                <a:lnTo>
                  <a:pt x="995643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02195" y="1435179"/>
            <a:ext cx="11483611" cy="7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44"/>
              </a:lnSpc>
              <a:spcBef>
                <a:spcPct val="0"/>
              </a:spcBef>
            </a:pPr>
            <a:r>
              <a:rPr lang="en-US" sz="5921" b="1" u="none" strike="noStrik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KEY INSIGHTS</a:t>
            </a:r>
          </a:p>
        </p:txBody>
      </p:sp>
      <p:sp>
        <p:nvSpPr>
          <p:cNvPr id="4" name="AutoShape 4"/>
          <p:cNvSpPr/>
          <p:nvPr/>
        </p:nvSpPr>
        <p:spPr>
          <a:xfrm>
            <a:off x="1326749" y="7401648"/>
            <a:ext cx="5504926" cy="1191374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5" name="AutoShape 5"/>
          <p:cNvSpPr/>
          <p:nvPr/>
        </p:nvSpPr>
        <p:spPr>
          <a:xfrm>
            <a:off x="1316486" y="4622029"/>
            <a:ext cx="5515188" cy="1191374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6" name="TextBox 6"/>
          <p:cNvSpPr txBox="1"/>
          <p:nvPr/>
        </p:nvSpPr>
        <p:spPr>
          <a:xfrm>
            <a:off x="1392271" y="7427455"/>
            <a:ext cx="5373880" cy="102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8"/>
              </a:lnSpc>
            </a:pPr>
            <a:r>
              <a:rPr lang="en-US" sz="604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7.59% churn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19349" y="8488247"/>
            <a:ext cx="2552632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4891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6486" y="4660503"/>
            <a:ext cx="5515188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71.19% churn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96509" y="4610100"/>
            <a:ext cx="6821886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Intl Active Customers = yes, but no Intl Plan</a:t>
            </a:r>
          </a:p>
        </p:txBody>
      </p:sp>
      <p:sp>
        <p:nvSpPr>
          <p:cNvPr id="10" name="TextBox 10"/>
          <p:cNvSpPr txBox="1"/>
          <p:nvPr/>
        </p:nvSpPr>
        <p:spPr>
          <a:xfrm rot="-35650">
            <a:off x="10476234" y="7487748"/>
            <a:ext cx="4166685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</a:t>
            </a:r>
            <a:r>
              <a:rPr lang="en-US" sz="2999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tl Plan + Active: Only 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6851070" y="8021144"/>
            <a:ext cx="3619991" cy="3"/>
          </a:xfrm>
          <a:prstGeom prst="line">
            <a:avLst/>
          </a:prstGeom>
          <a:ln w="47625" cap="flat">
            <a:solidFill>
              <a:srgbClr val="A1343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6831674" y="5217714"/>
            <a:ext cx="3302926" cy="3"/>
          </a:xfrm>
          <a:prstGeom prst="line">
            <a:avLst/>
          </a:prstGeom>
          <a:ln w="47625" cap="flat">
            <a:solidFill>
              <a:srgbClr val="A1343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Box 13"/>
          <p:cNvSpPr txBox="1"/>
          <p:nvPr/>
        </p:nvSpPr>
        <p:spPr>
          <a:xfrm>
            <a:off x="1326749" y="8997836"/>
            <a:ext cx="15399544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Those who frequen</a:t>
            </a:r>
            <a:r>
              <a:rPr lang="en-US" sz="2999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tly use international services are retained if subscribed to an international plan.</a:t>
            </a:r>
          </a:p>
        </p:txBody>
      </p:sp>
      <p:sp>
        <p:nvSpPr>
          <p:cNvPr id="14" name="TextBox 14"/>
          <p:cNvSpPr txBox="1"/>
          <p:nvPr/>
        </p:nvSpPr>
        <p:spPr>
          <a:xfrm rot="-35650">
            <a:off x="1318977" y="3172108"/>
            <a:ext cx="10822298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</a:t>
            </a:r>
            <a:r>
              <a:rPr lang="en-US" sz="3999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International Plan and Activeness: 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18395" y="572199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3" y="0"/>
                </a:lnTo>
                <a:lnTo>
                  <a:pt x="995643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02195" y="1435179"/>
            <a:ext cx="11483611" cy="7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44"/>
              </a:lnSpc>
              <a:spcBef>
                <a:spcPct val="0"/>
              </a:spcBef>
            </a:pPr>
            <a:r>
              <a:rPr lang="en-US" sz="5921" b="1" u="none" strike="noStrik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KEY INSIGHTS</a:t>
            </a:r>
          </a:p>
        </p:txBody>
      </p:sp>
      <p:sp>
        <p:nvSpPr>
          <p:cNvPr id="4" name="AutoShape 4"/>
          <p:cNvSpPr/>
          <p:nvPr/>
        </p:nvSpPr>
        <p:spPr>
          <a:xfrm>
            <a:off x="1261226" y="7190710"/>
            <a:ext cx="5504926" cy="1191374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5" name="AutoShape 5"/>
          <p:cNvSpPr/>
          <p:nvPr/>
        </p:nvSpPr>
        <p:spPr>
          <a:xfrm>
            <a:off x="10450698" y="7184427"/>
            <a:ext cx="5515188" cy="1191374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6" name="TextBox 6"/>
          <p:cNvSpPr txBox="1"/>
          <p:nvPr/>
        </p:nvSpPr>
        <p:spPr>
          <a:xfrm>
            <a:off x="1326749" y="7216517"/>
            <a:ext cx="5373880" cy="102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8"/>
              </a:lnSpc>
            </a:pPr>
            <a:r>
              <a:rPr lang="en-US" sz="604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2.4 calls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84089" y="7222901"/>
            <a:ext cx="5200863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0.37 calls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2746" y="8594877"/>
            <a:ext cx="682188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Churners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6766152" y="7780114"/>
            <a:ext cx="3684546" cy="6283"/>
          </a:xfrm>
          <a:prstGeom prst="line">
            <a:avLst/>
          </a:prstGeom>
          <a:ln w="47625" cap="flat">
            <a:solidFill>
              <a:srgbClr val="A1343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3985114" y="5143500"/>
            <a:ext cx="4409141" cy="2104360"/>
          </a:xfrm>
          <a:prstGeom prst="line">
            <a:avLst/>
          </a:prstGeom>
          <a:ln w="47625" cap="flat">
            <a:solidFill>
              <a:srgbClr val="A1343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8394255" y="5143500"/>
            <a:ext cx="4857936" cy="1987400"/>
          </a:xfrm>
          <a:prstGeom prst="line">
            <a:avLst/>
          </a:prstGeom>
          <a:ln w="47625" cap="flat">
            <a:solidFill>
              <a:srgbClr val="A1343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9797349" y="8594877"/>
            <a:ext cx="682188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Retained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83312" y="4553871"/>
            <a:ext cx="682188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Average Calls Made by Customers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858421"/>
            <a:ext cx="7581900" cy="669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</a:t>
            </a:r>
            <a:r>
              <a:rPr lang="en-US" sz="3999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Support Calls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18395" y="572199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3" y="0"/>
                </a:lnTo>
                <a:lnTo>
                  <a:pt x="995643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7634499" y="6913274"/>
            <a:ext cx="3019001" cy="2327380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4" name="AutoShape 4"/>
          <p:cNvSpPr/>
          <p:nvPr/>
        </p:nvSpPr>
        <p:spPr>
          <a:xfrm>
            <a:off x="1892694" y="6930920"/>
            <a:ext cx="3019001" cy="2327380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5" name="AutoShape 5"/>
          <p:cNvSpPr/>
          <p:nvPr/>
        </p:nvSpPr>
        <p:spPr>
          <a:xfrm>
            <a:off x="13514387" y="6930920"/>
            <a:ext cx="3019001" cy="2327380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6" name="Freeform 6"/>
          <p:cNvSpPr/>
          <p:nvPr/>
        </p:nvSpPr>
        <p:spPr>
          <a:xfrm>
            <a:off x="2066803" y="4344606"/>
            <a:ext cx="2670783" cy="2568668"/>
          </a:xfrm>
          <a:custGeom>
            <a:avLst/>
            <a:gdLst/>
            <a:ahLst/>
            <a:cxnLst/>
            <a:rect l="l" t="t" r="r" b="b"/>
            <a:pathLst>
              <a:path w="2670783" h="2568668">
                <a:moveTo>
                  <a:pt x="0" y="0"/>
                </a:moveTo>
                <a:lnTo>
                  <a:pt x="2670783" y="0"/>
                </a:lnTo>
                <a:lnTo>
                  <a:pt x="2670783" y="2568668"/>
                </a:lnTo>
                <a:lnTo>
                  <a:pt x="0" y="2568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97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805378" y="4326959"/>
            <a:ext cx="2677244" cy="2586315"/>
          </a:xfrm>
          <a:custGeom>
            <a:avLst/>
            <a:gdLst/>
            <a:ahLst/>
            <a:cxnLst/>
            <a:rect l="l" t="t" r="r" b="b"/>
            <a:pathLst>
              <a:path w="2677244" h="2586315">
                <a:moveTo>
                  <a:pt x="0" y="0"/>
                </a:moveTo>
                <a:lnTo>
                  <a:pt x="2677244" y="0"/>
                </a:lnTo>
                <a:lnTo>
                  <a:pt x="2677244" y="2586315"/>
                </a:lnTo>
                <a:lnTo>
                  <a:pt x="0" y="25863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1757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739554" y="4344606"/>
            <a:ext cx="2568668" cy="2568668"/>
          </a:xfrm>
          <a:custGeom>
            <a:avLst/>
            <a:gdLst/>
            <a:ahLst/>
            <a:cxnLst/>
            <a:rect l="l" t="t" r="r" b="b"/>
            <a:pathLst>
              <a:path w="2568668" h="2568668">
                <a:moveTo>
                  <a:pt x="0" y="0"/>
                </a:moveTo>
                <a:lnTo>
                  <a:pt x="2568668" y="0"/>
                </a:lnTo>
                <a:lnTo>
                  <a:pt x="2568668" y="2568668"/>
                </a:lnTo>
                <a:lnTo>
                  <a:pt x="0" y="25686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402195" y="1435179"/>
            <a:ext cx="11483611" cy="7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44"/>
              </a:lnSpc>
              <a:spcBef>
                <a:spcPct val="0"/>
              </a:spcBef>
            </a:pPr>
            <a:r>
              <a:rPr lang="en-US" sz="5921" b="1" u="none" strike="noStrik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KEY INSIGHTS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36476"/>
            <a:ext cx="416668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Female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4499" y="7524730"/>
            <a:ext cx="3030730" cy="102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8"/>
              </a:lnSpc>
            </a:pPr>
            <a:r>
              <a:rPr lang="en-US" sz="6041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32.26%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14387" y="7524730"/>
            <a:ext cx="3030730" cy="102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8"/>
              </a:lnSpc>
            </a:pPr>
            <a:r>
              <a:rPr lang="en-US" sz="604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34.72%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80965" y="7524730"/>
            <a:ext cx="3030730" cy="102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8"/>
              </a:lnSpc>
            </a:pPr>
            <a:r>
              <a:rPr lang="en-US" sz="604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33.02%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84623" y="9336476"/>
            <a:ext cx="416668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Male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40545" y="9336476"/>
            <a:ext cx="416668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Prefer not to say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59349" y="2659552"/>
            <a:ext cx="6556474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Demographic Insights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3692" y="3553336"/>
            <a:ext cx="11273108" cy="498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7" lvl="1" indent="-323848" algn="ctr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Majority of churned customers are under 30 (youth).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568979" y="3133704"/>
            <a:ext cx="17068036" cy="6821613"/>
          </a:xfrm>
          <a:prstGeom prst="rect">
            <a:avLst/>
          </a:prstGeom>
          <a:solidFill>
            <a:srgbClr val="FBFBFB"/>
          </a:solidFill>
        </p:spPr>
      </p:sp>
      <p:grpSp>
        <p:nvGrpSpPr>
          <p:cNvPr id="5" name="Group 5"/>
          <p:cNvGrpSpPr/>
          <p:nvPr/>
        </p:nvGrpSpPr>
        <p:grpSpPr>
          <a:xfrm>
            <a:off x="13303866" y="5588411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DE6A7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203200" y="-76200"/>
              <a:ext cx="406400" cy="787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99"/>
                </a:lnSpc>
              </a:pPr>
              <a:endParaRPr dirty="0"/>
            </a:p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sz="4499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7.7%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39293" y="5684535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E6A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203200" y="44450"/>
              <a:ext cx="4064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Peaks at</a:t>
              </a:r>
            </a:p>
            <a:p>
              <a:pPr algn="ctr">
                <a:lnSpc>
                  <a:spcPts val="6299"/>
                </a:lnSpc>
              </a:pPr>
              <a:r>
                <a:rPr lang="en-US" sz="4499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62%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68548" y="3678390"/>
            <a:ext cx="7675452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Churn by Account Length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44219" y="1259968"/>
            <a:ext cx="12517555" cy="770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4"/>
              </a:lnSpc>
            </a:pPr>
            <a:r>
              <a:rPr lang="en-US" sz="59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KEY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8548" y="9294510"/>
            <a:ext cx="5782524" cy="5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8"/>
              </a:lnSpc>
            </a:pPr>
            <a:r>
              <a:rPr lang="en-US" sz="316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Churn rate  in first 5 months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65980" y="9191625"/>
            <a:ext cx="5561873" cy="5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8"/>
              </a:lnSpc>
            </a:pPr>
            <a:r>
              <a:rPr lang="en-US" sz="316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Churn rate after 50 months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39292" y="4598669"/>
            <a:ext cx="13950673" cy="498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7" lvl="1" indent="-323848" algn="ctr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Customers with shorter account durations are more likely to churn.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80443" y="7646670"/>
            <a:ext cx="6868374" cy="5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8"/>
              </a:lnSpc>
            </a:pPr>
            <a:r>
              <a:rPr lang="en-US" sz="3163" u="sng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Steadily declines after 10 months</a:t>
            </a:r>
          </a:p>
        </p:txBody>
      </p:sp>
      <p:sp>
        <p:nvSpPr>
          <p:cNvPr id="17" name="Freeform 4">
            <a:extLst>
              <a:ext uri="{FF2B5EF4-FFF2-40B4-BE49-F238E27FC236}">
                <a16:creationId xmlns:a16="http://schemas.microsoft.com/office/drawing/2014/main" id="{470F538D-6717-4925-AD27-4DDA1A93ED65}"/>
              </a:ext>
            </a:extLst>
          </p:cNvPr>
          <p:cNvSpPr/>
          <p:nvPr/>
        </p:nvSpPr>
        <p:spPr>
          <a:xfrm>
            <a:off x="14401800" y="17484"/>
            <a:ext cx="3378270" cy="3015502"/>
          </a:xfrm>
          <a:custGeom>
            <a:avLst/>
            <a:gdLst/>
            <a:ahLst/>
            <a:cxnLst/>
            <a:rect l="l" t="t" r="r" b="b"/>
            <a:pathLst>
              <a:path w="3378270" h="3015502">
                <a:moveTo>
                  <a:pt x="0" y="0"/>
                </a:moveTo>
                <a:lnTo>
                  <a:pt x="3378270" y="0"/>
                </a:lnTo>
                <a:lnTo>
                  <a:pt x="3378270" y="3015502"/>
                </a:lnTo>
                <a:lnTo>
                  <a:pt x="0" y="3015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16" r="-9016"/>
            </a:stretch>
          </a:blipFill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568979" y="371475"/>
            <a:ext cx="8352661" cy="9541312"/>
          </a:xfrm>
          <a:prstGeom prst="rect">
            <a:avLst/>
          </a:prstGeom>
          <a:solidFill>
            <a:srgbClr val="FBFBFB"/>
          </a:solidFill>
        </p:spPr>
      </p:sp>
      <p:sp>
        <p:nvSpPr>
          <p:cNvPr id="4" name="Freeform 4"/>
          <p:cNvSpPr/>
          <p:nvPr/>
        </p:nvSpPr>
        <p:spPr>
          <a:xfrm>
            <a:off x="885524" y="1028700"/>
            <a:ext cx="8258476" cy="8534299"/>
          </a:xfrm>
          <a:custGeom>
            <a:avLst/>
            <a:gdLst/>
            <a:ahLst/>
            <a:cxnLst/>
            <a:rect l="l" t="t" r="r" b="b"/>
            <a:pathLst>
              <a:path w="8258476" h="8534299">
                <a:moveTo>
                  <a:pt x="0" y="0"/>
                </a:moveTo>
                <a:lnTo>
                  <a:pt x="8258476" y="0"/>
                </a:lnTo>
                <a:lnTo>
                  <a:pt x="8258476" y="8534299"/>
                </a:lnTo>
                <a:lnTo>
                  <a:pt x="0" y="85342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"/>
            </a:blip>
            <a:stretch>
              <a:fillRect l="-27504" r="-2750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21640" y="2427285"/>
            <a:ext cx="9137515" cy="7135714"/>
          </a:xfrm>
          <a:custGeom>
            <a:avLst/>
            <a:gdLst/>
            <a:ahLst/>
            <a:cxnLst/>
            <a:rect l="l" t="t" r="r" b="b"/>
            <a:pathLst>
              <a:path w="9137515" h="7135714">
                <a:moveTo>
                  <a:pt x="0" y="0"/>
                </a:moveTo>
                <a:lnTo>
                  <a:pt x="9137515" y="0"/>
                </a:lnTo>
                <a:lnTo>
                  <a:pt x="9137515" y="7135714"/>
                </a:lnTo>
                <a:lnTo>
                  <a:pt x="0" y="71357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5828" r="-2814" b="-1582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85524" y="3087684"/>
            <a:ext cx="8678039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</a:t>
            </a:r>
            <a:r>
              <a:rPr lang="en-US" sz="3999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Unlimited Data Plan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3905" y="5433967"/>
            <a:ext cx="7801276" cy="106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1303" lvl="1" indent="-330652" algn="just">
              <a:lnSpc>
                <a:spcPts val="4288"/>
              </a:lnSpc>
              <a:buFont typeface="Arial"/>
              <a:buChar char="•"/>
            </a:pPr>
            <a:r>
              <a:rPr lang="en-US" sz="3063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Customers with unlimited plans churn more.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29009" y="1152525"/>
            <a:ext cx="12517555" cy="770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4"/>
              </a:lnSpc>
            </a:pPr>
            <a:r>
              <a:rPr lang="en-US" sz="59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KEY INSIGHTS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08013" y="3693802"/>
            <a:ext cx="13077085" cy="6336023"/>
          </a:xfrm>
          <a:custGeom>
            <a:avLst/>
            <a:gdLst/>
            <a:ahLst/>
            <a:cxnLst/>
            <a:rect l="l" t="t" r="r" b="b"/>
            <a:pathLst>
              <a:path w="13077085" h="6336023">
                <a:moveTo>
                  <a:pt x="0" y="0"/>
                </a:moveTo>
                <a:lnTo>
                  <a:pt x="13077085" y="0"/>
                </a:lnTo>
                <a:lnTo>
                  <a:pt x="13077085" y="6336023"/>
                </a:lnTo>
                <a:lnTo>
                  <a:pt x="0" y="6336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8951" b="-488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42779" y="1692827"/>
            <a:ext cx="9337354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 Contract Type &amp; Gender Impact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64621" y="2466814"/>
            <a:ext cx="16637065" cy="106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1303" lvl="1" indent="-330652" algn="just">
              <a:lnSpc>
                <a:spcPts val="4288"/>
              </a:lnSpc>
              <a:spcBef>
                <a:spcPct val="0"/>
              </a:spcBef>
              <a:buFont typeface="Arial"/>
              <a:buChar char="•"/>
            </a:pPr>
            <a:r>
              <a:rPr lang="en-US" sz="3063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Churn is low among customers with long-term contracts, especially among females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86159" y="705245"/>
            <a:ext cx="12517555" cy="770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44"/>
              </a:lnSpc>
              <a:spcBef>
                <a:spcPct val="0"/>
              </a:spcBef>
            </a:pPr>
            <a:r>
              <a:rPr lang="en-US" sz="5921" b="1" u="none" strike="noStrik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KEY INSIGHTS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568979" y="371475"/>
            <a:ext cx="9020613" cy="9541312"/>
          </a:xfrm>
          <a:prstGeom prst="rect">
            <a:avLst/>
          </a:prstGeom>
          <a:solidFill>
            <a:srgbClr val="FBFBFB"/>
          </a:solidFill>
        </p:spPr>
      </p:sp>
      <p:sp>
        <p:nvSpPr>
          <p:cNvPr id="4" name="Freeform 4"/>
          <p:cNvSpPr/>
          <p:nvPr/>
        </p:nvSpPr>
        <p:spPr>
          <a:xfrm>
            <a:off x="11119476" y="2165188"/>
            <a:ext cx="5882649" cy="3990410"/>
          </a:xfrm>
          <a:custGeom>
            <a:avLst/>
            <a:gdLst/>
            <a:ahLst/>
            <a:cxnLst/>
            <a:rect l="l" t="t" r="r" b="b"/>
            <a:pathLst>
              <a:path w="5882649" h="3990410">
                <a:moveTo>
                  <a:pt x="0" y="0"/>
                </a:moveTo>
                <a:lnTo>
                  <a:pt x="5882649" y="0"/>
                </a:lnTo>
                <a:lnTo>
                  <a:pt x="5882649" y="3990410"/>
                </a:lnTo>
                <a:lnTo>
                  <a:pt x="0" y="399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816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069794" y="6155598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6A7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36.39%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68979" y="2261732"/>
            <a:ext cx="8678039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7. </a:t>
            </a:r>
            <a:r>
              <a:rPr lang="en-US" sz="3999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Affiliation &amp; 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71921" y="7880904"/>
            <a:ext cx="8744629" cy="5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1303" lvl="1" indent="-330652" algn="just">
              <a:lnSpc>
                <a:spcPts val="4288"/>
              </a:lnSpc>
              <a:spcBef>
                <a:spcPct val="0"/>
              </a:spcBef>
              <a:buFont typeface="Arial"/>
              <a:buChar char="•"/>
            </a:pPr>
            <a:r>
              <a:rPr lang="en-US" sz="3063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Customers in group contracts churn less.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11109" y="894569"/>
            <a:ext cx="12517555" cy="770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44"/>
              </a:lnSpc>
              <a:spcBef>
                <a:spcPct val="0"/>
              </a:spcBef>
            </a:pPr>
            <a:r>
              <a:rPr lang="en-US" sz="5921" b="1" u="none" strike="noStrik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KEY INSIGHTS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9287" y="3534006"/>
            <a:ext cx="8087731" cy="160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1303" lvl="1" indent="-330652" algn="just">
              <a:lnSpc>
                <a:spcPts val="4288"/>
              </a:lnSpc>
              <a:spcBef>
                <a:spcPct val="0"/>
              </a:spcBef>
              <a:buFont typeface="Arial"/>
              <a:buChar char="•"/>
            </a:pPr>
            <a:r>
              <a:rPr lang="en-US" sz="306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3063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ustomers aged 50+ without group affiliation churn more than those in a group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18395" y="572199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3" y="0"/>
                </a:lnTo>
                <a:lnTo>
                  <a:pt x="995643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27124" y="-210752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90178" y="228193"/>
            <a:ext cx="12989425" cy="9628550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6" name="Freeform 6"/>
          <p:cNvSpPr/>
          <p:nvPr/>
        </p:nvSpPr>
        <p:spPr>
          <a:xfrm>
            <a:off x="16100324" y="827972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732375" y="1043262"/>
            <a:ext cx="3981663" cy="8215038"/>
            <a:chOff x="0" y="0"/>
            <a:chExt cx="5308884" cy="10953384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6"/>
            <a:srcRect l="33944" r="33944"/>
            <a:stretch>
              <a:fillRect/>
            </a:stretch>
          </p:blipFill>
          <p:spPr>
            <a:xfrm>
              <a:off x="0" y="0"/>
              <a:ext cx="5308884" cy="10953384"/>
            </a:xfrm>
            <a:prstGeom prst="rect">
              <a:avLst/>
            </a:prstGeom>
          </p:spPr>
        </p:pic>
      </p:grpSp>
      <p:sp>
        <p:nvSpPr>
          <p:cNvPr id="9" name="TextBox 9"/>
          <p:cNvSpPr txBox="1"/>
          <p:nvPr/>
        </p:nvSpPr>
        <p:spPr>
          <a:xfrm>
            <a:off x="874959" y="1876115"/>
            <a:ext cx="11934114" cy="798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8939" lvl="1" indent="-329470" algn="just">
              <a:lnSpc>
                <a:spcPts val="4272"/>
              </a:lnSpc>
              <a:buFont typeface="Arial"/>
              <a:buChar char="•"/>
            </a:pPr>
            <a:r>
              <a:rPr lang="en-US" sz="3052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Improve service quality and offer competitive pricing to address key churn reasons.</a:t>
            </a:r>
          </a:p>
          <a:p>
            <a:pPr algn="just">
              <a:lnSpc>
                <a:spcPts val="4272"/>
              </a:lnSpc>
            </a:pPr>
            <a:endParaRPr lang="en-US" sz="3052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58939" lvl="1" indent="-329470" algn="just">
              <a:lnSpc>
                <a:spcPts val="4272"/>
              </a:lnSpc>
              <a:buFont typeface="Arial"/>
              <a:buChar char="•"/>
            </a:pPr>
            <a:r>
              <a:rPr lang="en-US" sz="3052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Encourage group contracts and optimize international offerings for high-risk users.</a:t>
            </a:r>
          </a:p>
          <a:p>
            <a:pPr algn="just">
              <a:lnSpc>
                <a:spcPts val="4272"/>
              </a:lnSpc>
            </a:pPr>
            <a:endParaRPr lang="en-US" sz="3052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58939" lvl="1" indent="-329470" algn="just">
              <a:lnSpc>
                <a:spcPts val="4272"/>
              </a:lnSpc>
              <a:buFont typeface="Arial"/>
              <a:buChar char="•"/>
            </a:pPr>
            <a:r>
              <a:rPr lang="en-US" sz="3052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demographic and usage data to create targeted retention campaigns.</a:t>
            </a:r>
          </a:p>
          <a:p>
            <a:pPr algn="just">
              <a:lnSpc>
                <a:spcPts val="4272"/>
              </a:lnSpc>
            </a:pPr>
            <a:endParaRPr lang="en-US" sz="3052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58939" lvl="1" indent="-329470" algn="just">
              <a:lnSpc>
                <a:spcPts val="4272"/>
              </a:lnSpc>
              <a:buFont typeface="Arial"/>
              <a:buChar char="•"/>
            </a:pPr>
            <a:r>
              <a:rPr lang="en-US" sz="3052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Train agents and monitor frequent callers to reduce churn triggered by poor service.</a:t>
            </a:r>
          </a:p>
          <a:p>
            <a:pPr algn="just">
              <a:lnSpc>
                <a:spcPts val="4272"/>
              </a:lnSpc>
            </a:pPr>
            <a:endParaRPr lang="en-US" sz="3052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58939" lvl="1" indent="-329470" algn="just">
              <a:lnSpc>
                <a:spcPts val="4272"/>
              </a:lnSpc>
              <a:buFont typeface="Arial"/>
              <a:buChar char="•"/>
            </a:pPr>
            <a:r>
              <a:rPr lang="en-US" sz="3052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churn prediction models to engage and retain high-risk customers proactively.</a:t>
            </a:r>
          </a:p>
          <a:p>
            <a:pPr algn="just">
              <a:lnSpc>
                <a:spcPts val="4272"/>
              </a:lnSpc>
            </a:pPr>
            <a:endParaRPr lang="en-US" sz="3052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40509" y="696024"/>
            <a:ext cx="10888763" cy="7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44"/>
              </a:lnSpc>
              <a:spcBef>
                <a:spcPct val="0"/>
              </a:spcBef>
            </a:pPr>
            <a:r>
              <a:rPr lang="en-US" sz="5921" b="1" u="none" strike="noStrike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RECOMMENDATIONS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254654" y="430326"/>
            <a:ext cx="8075502" cy="9484162"/>
          </a:xfrm>
          <a:prstGeom prst="rect">
            <a:avLst/>
          </a:prstGeom>
          <a:solidFill>
            <a:srgbClr val="A1343C"/>
          </a:solidFill>
        </p:spPr>
      </p:sp>
      <p:sp>
        <p:nvSpPr>
          <p:cNvPr id="4" name="TextBox 4"/>
          <p:cNvSpPr txBox="1"/>
          <p:nvPr/>
        </p:nvSpPr>
        <p:spPr>
          <a:xfrm>
            <a:off x="568979" y="5738746"/>
            <a:ext cx="7761177" cy="378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3"/>
              </a:lnSpc>
            </a:pPr>
            <a:r>
              <a:rPr lang="en-US" sz="7580" b="1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LET’S PREDICT WHICH CUSTOMERS MIGHT LEAVE</a:t>
            </a:r>
          </a:p>
        </p:txBody>
      </p:sp>
      <p:sp>
        <p:nvSpPr>
          <p:cNvPr id="5" name="Freeform 5"/>
          <p:cNvSpPr/>
          <p:nvPr/>
        </p:nvSpPr>
        <p:spPr>
          <a:xfrm>
            <a:off x="1564622" y="790754"/>
            <a:ext cx="5097893" cy="4311063"/>
          </a:xfrm>
          <a:custGeom>
            <a:avLst/>
            <a:gdLst/>
            <a:ahLst/>
            <a:cxnLst/>
            <a:rect l="l" t="t" r="r" b="b"/>
            <a:pathLst>
              <a:path w="5097893" h="4311063">
                <a:moveTo>
                  <a:pt x="0" y="0"/>
                </a:moveTo>
                <a:lnTo>
                  <a:pt x="5097893" y="0"/>
                </a:lnTo>
                <a:lnTo>
                  <a:pt x="5097893" y="4311063"/>
                </a:lnTo>
                <a:lnTo>
                  <a:pt x="0" y="43110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125" b="-9125"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A6C76-CB53-4157-98C9-1D0A8A1F4278}"/>
              </a:ext>
            </a:extLst>
          </p:cNvPr>
          <p:cNvSpPr txBox="1"/>
          <p:nvPr/>
        </p:nvSpPr>
        <p:spPr>
          <a:xfrm>
            <a:off x="8333700" y="4132321"/>
            <a:ext cx="96996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https://customerchurng2.streamlit.app/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C0392-D1F4-4F0A-A446-A41D2F6EB2A1}"/>
              </a:ext>
            </a:extLst>
          </p:cNvPr>
          <p:cNvSpPr txBox="1"/>
          <p:nvPr/>
        </p:nvSpPr>
        <p:spPr>
          <a:xfrm>
            <a:off x="8333700" y="7245918"/>
            <a:ext cx="969964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CODES</a:t>
            </a:r>
            <a:r>
              <a:rPr lang="en-US" sz="4400" b="1"/>
              <a:t>: </a:t>
            </a:r>
          </a:p>
          <a:p>
            <a:r>
              <a:rPr lang="en-US" sz="4400"/>
              <a:t>https</a:t>
            </a:r>
            <a:r>
              <a:rPr lang="en-US" sz="4400" dirty="0"/>
              <a:t>://github.com/Patrick-Ko/customer-churn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27124" y="-210752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13230" y="157775"/>
            <a:ext cx="12040154" cy="9794879"/>
          </a:xfrm>
          <a:prstGeom prst="rect">
            <a:avLst/>
          </a:prstGeom>
          <a:solidFill>
            <a:srgbClr val="A1343C"/>
          </a:solidFill>
        </p:spPr>
      </p:sp>
      <p:grpSp>
        <p:nvGrpSpPr>
          <p:cNvPr id="5" name="Group 5"/>
          <p:cNvGrpSpPr/>
          <p:nvPr/>
        </p:nvGrpSpPr>
        <p:grpSpPr>
          <a:xfrm>
            <a:off x="12924237" y="757512"/>
            <a:ext cx="5192313" cy="8955250"/>
            <a:chOff x="0" y="0"/>
            <a:chExt cx="6923084" cy="11940333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6"/>
            <a:srcRect l="28001" r="34241"/>
            <a:stretch>
              <a:fillRect/>
            </a:stretch>
          </p:blipFill>
          <p:spPr>
            <a:xfrm>
              <a:off x="0" y="0"/>
              <a:ext cx="6923084" cy="11940333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568979" y="1877195"/>
            <a:ext cx="11682362" cy="8359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039" lvl="1" indent="-322519" algn="just">
              <a:lnSpc>
                <a:spcPts val="4182"/>
              </a:lnSpc>
              <a:buFont typeface="Arial"/>
              <a:buChar char="•"/>
            </a:pPr>
            <a:r>
              <a:rPr lang="en-US" sz="2987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Churn rate stands at 26.86%, with most customers leaving voluntarily.</a:t>
            </a:r>
          </a:p>
          <a:p>
            <a:pPr algn="just">
              <a:lnSpc>
                <a:spcPts val="4182"/>
              </a:lnSpc>
            </a:pPr>
            <a:endParaRPr lang="en-US" sz="2987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45039" lvl="1" indent="-322519" algn="just">
              <a:lnSpc>
                <a:spcPts val="4182"/>
              </a:lnSpc>
              <a:buFont typeface="Arial"/>
              <a:buChar char="•"/>
            </a:pPr>
            <a:r>
              <a:rPr lang="en-US" sz="2987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Over 70% of internationally active users without a plan churned.</a:t>
            </a:r>
          </a:p>
          <a:p>
            <a:pPr algn="just">
              <a:lnSpc>
                <a:spcPts val="4182"/>
              </a:lnSpc>
            </a:pPr>
            <a:endParaRPr lang="en-US" sz="2987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45039" lvl="1" indent="-322519" algn="just">
              <a:lnSpc>
                <a:spcPts val="4182"/>
              </a:lnSpc>
              <a:buFont typeface="Arial"/>
              <a:buChar char="•"/>
            </a:pPr>
            <a:r>
              <a:rPr lang="en-US" sz="2987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Churned customers made 2.4 service calls on average vs. 0.37 for non-churners.</a:t>
            </a:r>
          </a:p>
          <a:p>
            <a:pPr algn="just">
              <a:lnSpc>
                <a:spcPts val="4182"/>
              </a:lnSpc>
            </a:pPr>
            <a:endParaRPr lang="en-US" sz="2987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45039" lvl="1" indent="-322519" algn="just">
              <a:lnSpc>
                <a:spcPts val="4182"/>
              </a:lnSpc>
              <a:buFont typeface="Arial"/>
              <a:buChar char="•"/>
            </a:pPr>
            <a:r>
              <a:rPr lang="en-US" sz="2987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Group affiliation and long-term contracts reduce churn significantly.</a:t>
            </a:r>
          </a:p>
          <a:p>
            <a:pPr algn="just">
              <a:lnSpc>
                <a:spcPts val="4182"/>
              </a:lnSpc>
            </a:pPr>
            <a:endParaRPr lang="en-US" sz="2987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45039" lvl="1" indent="-322519" algn="just">
              <a:lnSpc>
                <a:spcPts val="4182"/>
              </a:lnSpc>
              <a:buFont typeface="Arial"/>
              <a:buChar char="•"/>
            </a:pPr>
            <a:r>
              <a:rPr lang="en-US" sz="2987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Younger, high-data users are more prone to churn without targeted support.</a:t>
            </a:r>
          </a:p>
          <a:p>
            <a:pPr algn="just">
              <a:lnSpc>
                <a:spcPts val="4182"/>
              </a:lnSpc>
            </a:pPr>
            <a:endParaRPr lang="en-US" sz="2987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just">
              <a:lnSpc>
                <a:spcPts val="4182"/>
              </a:lnSpc>
            </a:pPr>
            <a:endParaRPr lang="en-US" sz="2987" b="1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66800" y="704088"/>
            <a:ext cx="10888763" cy="7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44"/>
              </a:lnSpc>
              <a:spcBef>
                <a:spcPct val="0"/>
              </a:spcBef>
            </a:pPr>
            <a:r>
              <a:rPr lang="en-US" sz="5921" b="1" u="none" strike="noStrike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CONCLUSION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0122"/>
            <a:ext cx="18157724" cy="10287000"/>
          </a:xfrm>
          <a:custGeom>
            <a:avLst/>
            <a:gdLst/>
            <a:ahLst/>
            <a:cxnLst/>
            <a:rect l="l" t="t" r="r" b="b"/>
            <a:pathLst>
              <a:path w="18157724" h="10287000">
                <a:moveTo>
                  <a:pt x="0" y="0"/>
                </a:moveTo>
                <a:lnTo>
                  <a:pt x="18157724" y="0"/>
                </a:lnTo>
                <a:lnTo>
                  <a:pt x="181577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71" t="-4247" r="-4082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3841368" y="0"/>
            <a:ext cx="10605264" cy="10287000"/>
          </a:xfrm>
          <a:prstGeom prst="rect">
            <a:avLst/>
          </a:prstGeom>
          <a:solidFill>
            <a:srgbClr val="A1343C">
              <a:alpha val="81961"/>
            </a:srgbClr>
          </a:solidFill>
        </p:spPr>
      </p:sp>
      <p:sp>
        <p:nvSpPr>
          <p:cNvPr id="4" name="AutoShape 4"/>
          <p:cNvSpPr/>
          <p:nvPr/>
        </p:nvSpPr>
        <p:spPr>
          <a:xfrm>
            <a:off x="3632494" y="-246595"/>
            <a:ext cx="208874" cy="1078019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AutoShape 5"/>
          <p:cNvSpPr/>
          <p:nvPr/>
        </p:nvSpPr>
        <p:spPr>
          <a:xfrm>
            <a:off x="14446632" y="-246595"/>
            <a:ext cx="208874" cy="1078019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AutoShape 6"/>
          <p:cNvSpPr/>
          <p:nvPr/>
        </p:nvSpPr>
        <p:spPr>
          <a:xfrm>
            <a:off x="5897880" y="6100733"/>
            <a:ext cx="6492240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6718395" y="572199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3" y="0"/>
                </a:lnTo>
                <a:lnTo>
                  <a:pt x="995643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100324" y="827972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927124" y="-210752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32189" y="4654808"/>
            <a:ext cx="11423621" cy="136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91"/>
              </a:lnSpc>
            </a:pPr>
            <a:r>
              <a:rPr lang="en-US" sz="10851" b="1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35360" y="3361102"/>
            <a:ext cx="3420421" cy="4918620"/>
            <a:chOff x="0" y="0"/>
            <a:chExt cx="2354580" cy="33859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3385923"/>
            </a:xfrm>
            <a:custGeom>
              <a:avLst/>
              <a:gdLst/>
              <a:ahLst/>
              <a:cxnLst/>
              <a:rect l="l" t="t" r="r" b="b"/>
              <a:pathLst>
                <a:path w="2353310" h="3385923">
                  <a:moveTo>
                    <a:pt x="784860" y="3318613"/>
                  </a:moveTo>
                  <a:cubicBezTo>
                    <a:pt x="905510" y="3359253"/>
                    <a:pt x="1042670" y="3385923"/>
                    <a:pt x="1177290" y="3385923"/>
                  </a:cubicBezTo>
                  <a:cubicBezTo>
                    <a:pt x="1311910" y="3385923"/>
                    <a:pt x="1441450" y="3363063"/>
                    <a:pt x="1560830" y="3322423"/>
                  </a:cubicBezTo>
                  <a:cubicBezTo>
                    <a:pt x="1563370" y="3321153"/>
                    <a:pt x="1565910" y="3321153"/>
                    <a:pt x="1568450" y="3319883"/>
                  </a:cubicBezTo>
                  <a:cubicBezTo>
                    <a:pt x="2016760" y="3157323"/>
                    <a:pt x="2346960" y="2728063"/>
                    <a:pt x="2353310" y="222482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223155"/>
                  </a:lnTo>
                  <a:cubicBezTo>
                    <a:pt x="6350" y="2730603"/>
                    <a:pt x="331470" y="3159863"/>
                    <a:pt x="784860" y="3318613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</p:spPr>
        </p:sp>
      </p:grpSp>
      <p:sp>
        <p:nvSpPr>
          <p:cNvPr id="4" name="AutoShape 4"/>
          <p:cNvSpPr/>
          <p:nvPr/>
        </p:nvSpPr>
        <p:spPr>
          <a:xfrm>
            <a:off x="0" y="0"/>
            <a:ext cx="18288000" cy="7112175"/>
          </a:xfrm>
          <a:prstGeom prst="rect">
            <a:avLst/>
          </a:prstGeom>
          <a:solidFill>
            <a:srgbClr val="A1343C"/>
          </a:solidFill>
        </p:spPr>
      </p:sp>
      <p:grpSp>
        <p:nvGrpSpPr>
          <p:cNvPr id="5" name="Group 5"/>
          <p:cNvGrpSpPr/>
          <p:nvPr/>
        </p:nvGrpSpPr>
        <p:grpSpPr>
          <a:xfrm>
            <a:off x="3732142" y="3487375"/>
            <a:ext cx="3537703" cy="5087272"/>
            <a:chOff x="0" y="0"/>
            <a:chExt cx="2354580" cy="3385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53310" cy="3385923"/>
            </a:xfrm>
            <a:custGeom>
              <a:avLst/>
              <a:gdLst/>
              <a:ahLst/>
              <a:cxnLst/>
              <a:rect l="l" t="t" r="r" b="b"/>
              <a:pathLst>
                <a:path w="2353310" h="3385923">
                  <a:moveTo>
                    <a:pt x="784860" y="3318613"/>
                  </a:moveTo>
                  <a:cubicBezTo>
                    <a:pt x="905510" y="3359253"/>
                    <a:pt x="1042670" y="3385923"/>
                    <a:pt x="1177290" y="3385923"/>
                  </a:cubicBezTo>
                  <a:cubicBezTo>
                    <a:pt x="1311910" y="3385923"/>
                    <a:pt x="1441450" y="3363063"/>
                    <a:pt x="1560830" y="3322423"/>
                  </a:cubicBezTo>
                  <a:cubicBezTo>
                    <a:pt x="1563370" y="3321153"/>
                    <a:pt x="1565910" y="3321153"/>
                    <a:pt x="1568450" y="3319883"/>
                  </a:cubicBezTo>
                  <a:cubicBezTo>
                    <a:pt x="2016760" y="3157323"/>
                    <a:pt x="2346960" y="2728063"/>
                    <a:pt x="2353310" y="222482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223155"/>
                  </a:lnTo>
                  <a:cubicBezTo>
                    <a:pt x="6350" y="2730603"/>
                    <a:pt x="331470" y="3159863"/>
                    <a:pt x="784860" y="3318613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7408691" y="3361102"/>
            <a:ext cx="3627622" cy="5216578"/>
            <a:chOff x="0" y="0"/>
            <a:chExt cx="2354580" cy="33859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53310" cy="3385923"/>
            </a:xfrm>
            <a:custGeom>
              <a:avLst/>
              <a:gdLst/>
              <a:ahLst/>
              <a:cxnLst/>
              <a:rect l="l" t="t" r="r" b="b"/>
              <a:pathLst>
                <a:path w="2353310" h="3385923">
                  <a:moveTo>
                    <a:pt x="784860" y="3318613"/>
                  </a:moveTo>
                  <a:cubicBezTo>
                    <a:pt x="905510" y="3359253"/>
                    <a:pt x="1042670" y="3385923"/>
                    <a:pt x="1177290" y="3385923"/>
                  </a:cubicBezTo>
                  <a:cubicBezTo>
                    <a:pt x="1311910" y="3385923"/>
                    <a:pt x="1441450" y="3363063"/>
                    <a:pt x="1560830" y="3322423"/>
                  </a:cubicBezTo>
                  <a:cubicBezTo>
                    <a:pt x="1563370" y="3321153"/>
                    <a:pt x="1565910" y="3321153"/>
                    <a:pt x="1568450" y="3319883"/>
                  </a:cubicBezTo>
                  <a:cubicBezTo>
                    <a:pt x="2016760" y="3157323"/>
                    <a:pt x="2346960" y="2728063"/>
                    <a:pt x="2353310" y="222482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223155"/>
                  </a:lnTo>
                  <a:cubicBezTo>
                    <a:pt x="6350" y="2730603"/>
                    <a:pt x="331470" y="3159863"/>
                    <a:pt x="784860" y="3318613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4067" y="3361102"/>
            <a:ext cx="3745397" cy="5213546"/>
            <a:chOff x="0" y="0"/>
            <a:chExt cx="2354580" cy="32775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3310" cy="3277546"/>
            </a:xfrm>
            <a:custGeom>
              <a:avLst/>
              <a:gdLst/>
              <a:ahLst/>
              <a:cxnLst/>
              <a:rect l="l" t="t" r="r" b="b"/>
              <a:pathLst>
                <a:path w="2353310" h="3277546">
                  <a:moveTo>
                    <a:pt x="784860" y="3210235"/>
                  </a:moveTo>
                  <a:cubicBezTo>
                    <a:pt x="905510" y="3250875"/>
                    <a:pt x="1042670" y="3277546"/>
                    <a:pt x="1177290" y="3277546"/>
                  </a:cubicBezTo>
                  <a:cubicBezTo>
                    <a:pt x="1311910" y="3277546"/>
                    <a:pt x="1441450" y="3254685"/>
                    <a:pt x="1560830" y="3214045"/>
                  </a:cubicBezTo>
                  <a:cubicBezTo>
                    <a:pt x="1563370" y="3212775"/>
                    <a:pt x="1565910" y="3212775"/>
                    <a:pt x="1568450" y="3211506"/>
                  </a:cubicBezTo>
                  <a:cubicBezTo>
                    <a:pt x="2016760" y="3048945"/>
                    <a:pt x="2346960" y="2619685"/>
                    <a:pt x="2353310" y="2116778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115194"/>
                  </a:lnTo>
                  <a:cubicBezTo>
                    <a:pt x="6350" y="2622225"/>
                    <a:pt x="331470" y="3051485"/>
                    <a:pt x="784860" y="3210235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568979" y="8770635"/>
            <a:ext cx="995643" cy="942127"/>
          </a:xfrm>
          <a:custGeom>
            <a:avLst/>
            <a:gdLst/>
            <a:ahLst/>
            <a:cxnLst/>
            <a:rect l="l" t="t" r="r" b="b"/>
            <a:pathLst>
              <a:path w="995643" h="942127">
                <a:moveTo>
                  <a:pt x="0" y="0"/>
                </a:moveTo>
                <a:lnTo>
                  <a:pt x="995642" y="0"/>
                </a:lnTo>
                <a:lnTo>
                  <a:pt x="995642" y="942127"/>
                </a:lnTo>
                <a:lnTo>
                  <a:pt x="0" y="94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927124" y="-210752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3762107" y="2932477"/>
            <a:ext cx="3507738" cy="5472807"/>
            <a:chOff x="0" y="0"/>
            <a:chExt cx="2354580" cy="367363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53310" cy="3673639"/>
            </a:xfrm>
            <a:custGeom>
              <a:avLst/>
              <a:gdLst/>
              <a:ahLst/>
              <a:cxnLst/>
              <a:rect l="l" t="t" r="r" b="b"/>
              <a:pathLst>
                <a:path w="2353310" h="3673639">
                  <a:moveTo>
                    <a:pt x="784860" y="3606329"/>
                  </a:moveTo>
                  <a:cubicBezTo>
                    <a:pt x="905510" y="3646969"/>
                    <a:pt x="1042670" y="3673639"/>
                    <a:pt x="1177290" y="3673639"/>
                  </a:cubicBezTo>
                  <a:cubicBezTo>
                    <a:pt x="1311910" y="3673639"/>
                    <a:pt x="1441450" y="3650779"/>
                    <a:pt x="1560830" y="3610139"/>
                  </a:cubicBezTo>
                  <a:cubicBezTo>
                    <a:pt x="1563370" y="3608869"/>
                    <a:pt x="1565910" y="3608869"/>
                    <a:pt x="1568450" y="3607599"/>
                  </a:cubicBezTo>
                  <a:cubicBezTo>
                    <a:pt x="2016760" y="3445039"/>
                    <a:pt x="2346960" y="3015779"/>
                    <a:pt x="2353310" y="251165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509764"/>
                  </a:lnTo>
                  <a:cubicBezTo>
                    <a:pt x="6350" y="3018319"/>
                    <a:pt x="331470" y="3447579"/>
                    <a:pt x="784860" y="36063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7480172" y="2932477"/>
            <a:ext cx="3507738" cy="5535589"/>
            <a:chOff x="0" y="0"/>
            <a:chExt cx="2354580" cy="37157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3715781"/>
            </a:xfrm>
            <a:custGeom>
              <a:avLst/>
              <a:gdLst/>
              <a:ahLst/>
              <a:cxnLst/>
              <a:rect l="l" t="t" r="r" b="b"/>
              <a:pathLst>
                <a:path w="2353310" h="3715781">
                  <a:moveTo>
                    <a:pt x="784860" y="3648471"/>
                  </a:moveTo>
                  <a:cubicBezTo>
                    <a:pt x="905510" y="3689111"/>
                    <a:pt x="1042670" y="3715781"/>
                    <a:pt x="1177290" y="3715781"/>
                  </a:cubicBezTo>
                  <a:cubicBezTo>
                    <a:pt x="1311910" y="3715781"/>
                    <a:pt x="1441450" y="3692921"/>
                    <a:pt x="1560830" y="3652281"/>
                  </a:cubicBezTo>
                  <a:cubicBezTo>
                    <a:pt x="1563370" y="3651011"/>
                    <a:pt x="1565910" y="3651011"/>
                    <a:pt x="1568450" y="3649742"/>
                  </a:cubicBezTo>
                  <a:cubicBezTo>
                    <a:pt x="2016760" y="3487181"/>
                    <a:pt x="2346960" y="3057921"/>
                    <a:pt x="2353310" y="2553666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551744"/>
                  </a:lnTo>
                  <a:cubicBezTo>
                    <a:pt x="6350" y="3060461"/>
                    <a:pt x="331470" y="3489721"/>
                    <a:pt x="784860" y="364847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4056731" y="4507022"/>
            <a:ext cx="2666160" cy="3142400"/>
            <a:chOff x="0" y="0"/>
            <a:chExt cx="6350000" cy="74842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7484260"/>
            </a:xfrm>
            <a:custGeom>
              <a:avLst/>
              <a:gdLst/>
              <a:ahLst/>
              <a:cxnLst/>
              <a:rect l="l" t="t" r="r" b="b"/>
              <a:pathLst>
                <a:path w="6350000" h="7484260">
                  <a:moveTo>
                    <a:pt x="6350000" y="3742175"/>
                  </a:moveTo>
                  <a:cubicBezTo>
                    <a:pt x="6350000" y="5808812"/>
                    <a:pt x="4928476" y="7484260"/>
                    <a:pt x="3175000" y="7484260"/>
                  </a:cubicBezTo>
                  <a:cubicBezTo>
                    <a:pt x="1421498" y="7484260"/>
                    <a:pt x="0" y="5808812"/>
                    <a:pt x="0" y="3742175"/>
                  </a:cubicBezTo>
                  <a:cubicBezTo>
                    <a:pt x="0" y="1675433"/>
                    <a:pt x="1421498" y="0"/>
                    <a:pt x="3175000" y="0"/>
                  </a:cubicBezTo>
                  <a:cubicBezTo>
                    <a:pt x="4928502" y="0"/>
                    <a:pt x="6350000" y="1675433"/>
                    <a:pt x="6350000" y="3742175"/>
                  </a:cubicBezTo>
                  <a:close/>
                </a:path>
              </a:pathLst>
            </a:custGeom>
            <a:blipFill>
              <a:blip r:embed="rId6"/>
              <a:stretch>
                <a:fillRect t="-10173" b="-10173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30276" y="2932477"/>
            <a:ext cx="3507738" cy="5472807"/>
            <a:chOff x="0" y="0"/>
            <a:chExt cx="2354580" cy="367363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53310" cy="3673639"/>
            </a:xfrm>
            <a:custGeom>
              <a:avLst/>
              <a:gdLst/>
              <a:ahLst/>
              <a:cxnLst/>
              <a:rect l="l" t="t" r="r" b="b"/>
              <a:pathLst>
                <a:path w="2353310" h="3673639">
                  <a:moveTo>
                    <a:pt x="784860" y="3606329"/>
                  </a:moveTo>
                  <a:cubicBezTo>
                    <a:pt x="905510" y="3646969"/>
                    <a:pt x="1042670" y="3673639"/>
                    <a:pt x="1177290" y="3673639"/>
                  </a:cubicBezTo>
                  <a:cubicBezTo>
                    <a:pt x="1311910" y="3673639"/>
                    <a:pt x="1441450" y="3650779"/>
                    <a:pt x="1560830" y="3610139"/>
                  </a:cubicBezTo>
                  <a:cubicBezTo>
                    <a:pt x="1563370" y="3608869"/>
                    <a:pt x="1565910" y="3608869"/>
                    <a:pt x="1568450" y="3607599"/>
                  </a:cubicBezTo>
                  <a:cubicBezTo>
                    <a:pt x="2016760" y="3445039"/>
                    <a:pt x="2346960" y="3015779"/>
                    <a:pt x="2353310" y="251165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509764"/>
                  </a:lnTo>
                  <a:cubicBezTo>
                    <a:pt x="6350" y="3018319"/>
                    <a:pt x="331470" y="3447579"/>
                    <a:pt x="784860" y="36063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568979" y="4507022"/>
            <a:ext cx="2666160" cy="3142400"/>
            <a:chOff x="0" y="0"/>
            <a:chExt cx="6350000" cy="74842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7484260"/>
            </a:xfrm>
            <a:custGeom>
              <a:avLst/>
              <a:gdLst/>
              <a:ahLst/>
              <a:cxnLst/>
              <a:rect l="l" t="t" r="r" b="b"/>
              <a:pathLst>
                <a:path w="6350000" h="7484260">
                  <a:moveTo>
                    <a:pt x="6350000" y="3742175"/>
                  </a:moveTo>
                  <a:cubicBezTo>
                    <a:pt x="6350000" y="5808812"/>
                    <a:pt x="4928476" y="7484260"/>
                    <a:pt x="3175000" y="7484260"/>
                  </a:cubicBezTo>
                  <a:cubicBezTo>
                    <a:pt x="1421498" y="7484260"/>
                    <a:pt x="0" y="5808812"/>
                    <a:pt x="0" y="3742175"/>
                  </a:cubicBezTo>
                  <a:cubicBezTo>
                    <a:pt x="0" y="1675433"/>
                    <a:pt x="1421498" y="0"/>
                    <a:pt x="3175000" y="0"/>
                  </a:cubicBezTo>
                  <a:cubicBezTo>
                    <a:pt x="4928502" y="0"/>
                    <a:pt x="6350000" y="1675433"/>
                    <a:pt x="6350000" y="3742175"/>
                  </a:cubicBezTo>
                  <a:close/>
                </a:path>
              </a:pathLst>
            </a:custGeom>
            <a:blipFill>
              <a:blip r:embed="rId7"/>
              <a:stretch>
                <a:fillRect t="-13673" b="-13673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7977487" y="4507022"/>
            <a:ext cx="2333026" cy="3142400"/>
            <a:chOff x="0" y="0"/>
            <a:chExt cx="6962461" cy="937787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62461" cy="9377879"/>
            </a:xfrm>
            <a:custGeom>
              <a:avLst/>
              <a:gdLst/>
              <a:ahLst/>
              <a:cxnLst/>
              <a:rect l="l" t="t" r="r" b="b"/>
              <a:pathLst>
                <a:path w="6962461" h="9377879">
                  <a:moveTo>
                    <a:pt x="6962461" y="4688996"/>
                  </a:moveTo>
                  <a:cubicBezTo>
                    <a:pt x="6962461" y="7278519"/>
                    <a:pt x="5403831" y="9377879"/>
                    <a:pt x="3481231" y="9377879"/>
                  </a:cubicBezTo>
                  <a:cubicBezTo>
                    <a:pt x="1558603" y="9377879"/>
                    <a:pt x="0" y="7278519"/>
                    <a:pt x="0" y="4688996"/>
                  </a:cubicBezTo>
                  <a:cubicBezTo>
                    <a:pt x="0" y="2099340"/>
                    <a:pt x="1558603" y="0"/>
                    <a:pt x="3481231" y="0"/>
                  </a:cubicBezTo>
                  <a:cubicBezTo>
                    <a:pt x="5403859" y="0"/>
                    <a:pt x="6962461" y="2099340"/>
                    <a:pt x="6962461" y="4688996"/>
                  </a:cubicBezTo>
                  <a:close/>
                </a:path>
              </a:pathLst>
            </a:custGeom>
            <a:blipFill>
              <a:blip r:embed="rId8"/>
              <a:stretch>
                <a:fillRect t="-5717" b="-5717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1207763" y="3556088"/>
            <a:ext cx="3420421" cy="4918620"/>
            <a:chOff x="0" y="0"/>
            <a:chExt cx="2354580" cy="338592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353310" cy="3385923"/>
            </a:xfrm>
            <a:custGeom>
              <a:avLst/>
              <a:gdLst/>
              <a:ahLst/>
              <a:cxnLst/>
              <a:rect l="l" t="t" r="r" b="b"/>
              <a:pathLst>
                <a:path w="2353310" h="3385923">
                  <a:moveTo>
                    <a:pt x="784860" y="3318613"/>
                  </a:moveTo>
                  <a:cubicBezTo>
                    <a:pt x="905510" y="3359253"/>
                    <a:pt x="1042670" y="3385923"/>
                    <a:pt x="1177290" y="3385923"/>
                  </a:cubicBezTo>
                  <a:cubicBezTo>
                    <a:pt x="1311910" y="3385923"/>
                    <a:pt x="1441450" y="3363063"/>
                    <a:pt x="1560830" y="3322423"/>
                  </a:cubicBezTo>
                  <a:cubicBezTo>
                    <a:pt x="1563370" y="3321153"/>
                    <a:pt x="1565910" y="3321153"/>
                    <a:pt x="1568450" y="3319883"/>
                  </a:cubicBezTo>
                  <a:cubicBezTo>
                    <a:pt x="2016760" y="3157323"/>
                    <a:pt x="2346960" y="2728063"/>
                    <a:pt x="2353310" y="222482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223155"/>
                  </a:lnTo>
                  <a:cubicBezTo>
                    <a:pt x="6350" y="2730603"/>
                    <a:pt x="331470" y="3159863"/>
                    <a:pt x="784860" y="3318613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1198236" y="2932477"/>
            <a:ext cx="3420421" cy="5410026"/>
            <a:chOff x="0" y="0"/>
            <a:chExt cx="2354580" cy="372420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53310" cy="3724202"/>
            </a:xfrm>
            <a:custGeom>
              <a:avLst/>
              <a:gdLst/>
              <a:ahLst/>
              <a:cxnLst/>
              <a:rect l="l" t="t" r="r" b="b"/>
              <a:pathLst>
                <a:path w="2353310" h="3724202">
                  <a:moveTo>
                    <a:pt x="784860" y="3656892"/>
                  </a:moveTo>
                  <a:cubicBezTo>
                    <a:pt x="905510" y="3697532"/>
                    <a:pt x="1042670" y="3724202"/>
                    <a:pt x="1177290" y="3724202"/>
                  </a:cubicBezTo>
                  <a:cubicBezTo>
                    <a:pt x="1311910" y="3724202"/>
                    <a:pt x="1441450" y="3701342"/>
                    <a:pt x="1560830" y="3660702"/>
                  </a:cubicBezTo>
                  <a:cubicBezTo>
                    <a:pt x="1563370" y="3659432"/>
                    <a:pt x="1565910" y="3659432"/>
                    <a:pt x="1568450" y="3658162"/>
                  </a:cubicBezTo>
                  <a:cubicBezTo>
                    <a:pt x="2016760" y="3495602"/>
                    <a:pt x="2346960" y="3066342"/>
                    <a:pt x="2353310" y="2562060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560132"/>
                  </a:lnTo>
                  <a:cubicBezTo>
                    <a:pt x="6350" y="3068882"/>
                    <a:pt x="331470" y="3498142"/>
                    <a:pt x="784860" y="36568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4791701" y="2932477"/>
            <a:ext cx="3366023" cy="5269019"/>
            <a:chOff x="0" y="0"/>
            <a:chExt cx="2354580" cy="36857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53310" cy="3685753"/>
            </a:xfrm>
            <a:custGeom>
              <a:avLst/>
              <a:gdLst/>
              <a:ahLst/>
              <a:cxnLst/>
              <a:rect l="l" t="t" r="r" b="b"/>
              <a:pathLst>
                <a:path w="2353310" h="3685753">
                  <a:moveTo>
                    <a:pt x="784860" y="3618442"/>
                  </a:moveTo>
                  <a:cubicBezTo>
                    <a:pt x="905510" y="3659082"/>
                    <a:pt x="1042670" y="3685753"/>
                    <a:pt x="1177290" y="3685753"/>
                  </a:cubicBezTo>
                  <a:cubicBezTo>
                    <a:pt x="1311910" y="3685753"/>
                    <a:pt x="1441450" y="3662892"/>
                    <a:pt x="1560830" y="3622253"/>
                  </a:cubicBezTo>
                  <a:cubicBezTo>
                    <a:pt x="1563370" y="3620982"/>
                    <a:pt x="1565910" y="3620982"/>
                    <a:pt x="1568450" y="3619712"/>
                  </a:cubicBezTo>
                  <a:cubicBezTo>
                    <a:pt x="2016760" y="3457153"/>
                    <a:pt x="2346960" y="3027893"/>
                    <a:pt x="2353310" y="2523729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521831"/>
                  </a:lnTo>
                  <a:cubicBezTo>
                    <a:pt x="6350" y="3030432"/>
                    <a:pt x="331470" y="3459692"/>
                    <a:pt x="784860" y="36184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1589906" y="4507022"/>
            <a:ext cx="2666160" cy="3142400"/>
            <a:chOff x="0" y="0"/>
            <a:chExt cx="6350000" cy="74842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350000" cy="7484260"/>
            </a:xfrm>
            <a:custGeom>
              <a:avLst/>
              <a:gdLst/>
              <a:ahLst/>
              <a:cxnLst/>
              <a:rect l="l" t="t" r="r" b="b"/>
              <a:pathLst>
                <a:path w="6350000" h="7484260">
                  <a:moveTo>
                    <a:pt x="6350000" y="3742175"/>
                  </a:moveTo>
                  <a:cubicBezTo>
                    <a:pt x="6350000" y="5808812"/>
                    <a:pt x="4928476" y="7484260"/>
                    <a:pt x="3175000" y="7484260"/>
                  </a:cubicBezTo>
                  <a:cubicBezTo>
                    <a:pt x="1421498" y="7484260"/>
                    <a:pt x="0" y="5808812"/>
                    <a:pt x="0" y="3742175"/>
                  </a:cubicBezTo>
                  <a:cubicBezTo>
                    <a:pt x="0" y="1675433"/>
                    <a:pt x="1421498" y="0"/>
                    <a:pt x="3175000" y="0"/>
                  </a:cubicBezTo>
                  <a:cubicBezTo>
                    <a:pt x="4928502" y="0"/>
                    <a:pt x="6350000" y="1675433"/>
                    <a:pt x="6350000" y="3742175"/>
                  </a:cubicBezTo>
                  <a:close/>
                </a:path>
              </a:pathLst>
            </a:custGeom>
            <a:blipFill>
              <a:blip r:embed="rId9"/>
              <a:stretch>
                <a:fillRect t="-13673" b="-13673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5012490" y="4507022"/>
            <a:ext cx="2666160" cy="3142400"/>
            <a:chOff x="0" y="0"/>
            <a:chExt cx="6350000" cy="74842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350000" cy="7484260"/>
            </a:xfrm>
            <a:custGeom>
              <a:avLst/>
              <a:gdLst/>
              <a:ahLst/>
              <a:cxnLst/>
              <a:rect l="l" t="t" r="r" b="b"/>
              <a:pathLst>
                <a:path w="6350000" h="7484260">
                  <a:moveTo>
                    <a:pt x="6350000" y="3742175"/>
                  </a:moveTo>
                  <a:cubicBezTo>
                    <a:pt x="6350000" y="5808812"/>
                    <a:pt x="4928476" y="7484260"/>
                    <a:pt x="3175000" y="7484260"/>
                  </a:cubicBezTo>
                  <a:cubicBezTo>
                    <a:pt x="1421498" y="7484260"/>
                    <a:pt x="0" y="5808812"/>
                    <a:pt x="0" y="3742175"/>
                  </a:cubicBezTo>
                  <a:cubicBezTo>
                    <a:pt x="0" y="1675433"/>
                    <a:pt x="1421498" y="0"/>
                    <a:pt x="3175000" y="0"/>
                  </a:cubicBezTo>
                  <a:cubicBezTo>
                    <a:pt x="4928502" y="0"/>
                    <a:pt x="6350000" y="1675433"/>
                    <a:pt x="6350000" y="3742175"/>
                  </a:cubicBezTo>
                  <a:close/>
                </a:path>
              </a:pathLst>
            </a:custGeom>
            <a:blipFill>
              <a:blip r:embed="rId10"/>
              <a:stretch>
                <a:fillRect t="-13673" b="-13673"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2445173" y="1214712"/>
            <a:ext cx="13397655" cy="98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3"/>
              </a:lnSpc>
            </a:pPr>
            <a:r>
              <a:rPr lang="en-US" sz="758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MEET OUR TEAM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909" y="3121240"/>
            <a:ext cx="3584474" cy="983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1"/>
              </a:lnSpc>
            </a:pPr>
            <a:r>
              <a:rPr lang="en-US" sz="4099" b="1">
                <a:solidFill>
                  <a:srgbClr val="1561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INNA DIANA BOATENG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38853" y="3134108"/>
            <a:ext cx="3354247" cy="983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1"/>
              </a:lnSpc>
            </a:pPr>
            <a:r>
              <a:rPr lang="en-US" sz="4099" b="1">
                <a:solidFill>
                  <a:srgbClr val="1561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STEPHANIE COFFIE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80172" y="3052528"/>
            <a:ext cx="3433093" cy="983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1"/>
              </a:lnSpc>
            </a:pPr>
            <a:r>
              <a:rPr lang="en-US" sz="4099" b="1">
                <a:solidFill>
                  <a:srgbClr val="1561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PATRICK DOGBATSE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791701" y="3046777"/>
            <a:ext cx="3354247" cy="1460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1"/>
              </a:lnSpc>
            </a:pPr>
            <a:r>
              <a:rPr lang="en-US" sz="4099" b="1">
                <a:solidFill>
                  <a:srgbClr val="1561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BLESS APPIAH-KUBI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245863" y="3046777"/>
            <a:ext cx="3354247" cy="1460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1"/>
              </a:lnSpc>
            </a:pPr>
            <a:r>
              <a:rPr lang="en-US" sz="4099" b="1" dirty="0">
                <a:solidFill>
                  <a:srgbClr val="1561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JESSICA OPOKU MENSAH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543</Words>
  <Application>Microsoft Office PowerPoint</Application>
  <PresentationFormat>Custom</PresentationFormat>
  <Paragraphs>116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Canva Sans Bold</vt:lpstr>
      <vt:lpstr>Calibri</vt:lpstr>
      <vt:lpstr>Montserrat Bold</vt:lpstr>
      <vt:lpstr>Montserrat</vt:lpstr>
      <vt:lpstr>Canva Sans</vt:lpstr>
      <vt:lpstr>Montserrat Heavy</vt:lpstr>
      <vt:lpstr>Montserrat Medium</vt:lpstr>
      <vt:lpstr>Arial</vt:lpstr>
      <vt:lpstr>Montserrat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</dc:title>
  <dc:creator>Inna Diana Boateng</dc:creator>
  <cp:lastModifiedBy>Inna Diana Boateng</cp:lastModifiedBy>
  <cp:revision>9</cp:revision>
  <dcterms:created xsi:type="dcterms:W3CDTF">2006-08-16T00:00:00Z</dcterms:created>
  <dcterms:modified xsi:type="dcterms:W3CDTF">2025-05-01T09:27:58Z</dcterms:modified>
  <dc:identifier>DAGk5zGMA7g</dc:identifier>
</cp:coreProperties>
</file>